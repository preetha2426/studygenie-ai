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7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4738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9.png"/><Relationship Id="rId7" Type="http://schemas.openxmlformats.org/officeDocument/2006/relationships/image" Target="../media/image10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5.png"/><Relationship Id="rId5" Type="http://schemas.openxmlformats.org/officeDocument/2006/relationships/image" Target="../media/image21.png"/><Relationship Id="rId10" Type="http://schemas.openxmlformats.org/officeDocument/2006/relationships/image" Target="../media/image22.png"/><Relationship Id="rId4" Type="http://schemas.openxmlformats.org/officeDocument/2006/relationships/image" Target="../media/image20.png"/><Relationship Id="rId9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7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.png"/><Relationship Id="rId5" Type="http://schemas.openxmlformats.org/officeDocument/2006/relationships/image" Target="../media/image25.png"/><Relationship Id="rId10" Type="http://schemas.openxmlformats.org/officeDocument/2006/relationships/image" Target="../media/image10.png"/><Relationship Id="rId4" Type="http://schemas.openxmlformats.org/officeDocument/2006/relationships/image" Target="../media/image24.png"/><Relationship Id="rId9" Type="http://schemas.openxmlformats.org/officeDocument/2006/relationships/image" Target="../media/image2.png"/><Relationship Id="rId1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21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114800" cy="4114800"/>
          </a:xfrm>
          <a:prstGeom prst="ellipse">
            <a:avLst/>
          </a:prstGeom>
          <a:solidFill>
            <a:srgbClr val="F2957D">
              <a:alpha val="3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1463040" y="4754880"/>
            <a:ext cx="3840480" cy="3840480"/>
          </a:xfrm>
          <a:prstGeom prst="ellipse">
            <a:avLst/>
          </a:prstGeom>
          <a:solidFill>
            <a:srgbClr val="5FCFB0">
              <a:alpha val="4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5394960" y="640080"/>
            <a:ext cx="1371600" cy="1371600"/>
          </a:xfrm>
          <a:prstGeom prst="ellipse">
            <a:avLst/>
          </a:prstGeom>
          <a:solidFill>
            <a:srgbClr val="F2957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Image 0" descr="/home/claude/studygenie/icons/brain_pea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932688"/>
            <a:ext cx="786384" cy="7863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28600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StudyGenie AI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457200" y="3200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9C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Study Planner using Generative AI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4480560" y="3977640"/>
            <a:ext cx="3200400" cy="0"/>
          </a:xfrm>
          <a:prstGeom prst="line">
            <a:avLst/>
          </a:prstGeom>
          <a:noFill/>
          <a:ln w="12700">
            <a:solidFill>
              <a:srgbClr val="F2957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4480560" y="42519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1C62CC-40AE-FEEC-6B57-91496F435090}"/>
              </a:ext>
            </a:extLst>
          </p:cNvPr>
          <p:cNvSpPr txBox="1"/>
          <p:nvPr/>
        </p:nvSpPr>
        <p:spPr>
          <a:xfrm>
            <a:off x="2266950" y="4977675"/>
            <a:ext cx="47910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MITHRA R – 710725205066(IT)</a:t>
            </a:r>
          </a:p>
          <a:p>
            <a:r>
              <a:rPr lang="en-I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PREETHA P – 710725205078(IT)</a:t>
            </a:r>
          </a:p>
          <a:p>
            <a:r>
              <a:rPr lang="en-I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RITHIKA S – 710725205087(IT)</a:t>
            </a:r>
          </a:p>
          <a:p>
            <a:r>
              <a:rPr lang="en-I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RITHISH M – 710725104145(CSE)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6CEEC-5E84-3568-D28D-7B0E8228B6B0}"/>
              </a:ext>
            </a:extLst>
          </p:cNvPr>
          <p:cNvSpPr txBox="1"/>
          <p:nvPr/>
        </p:nvSpPr>
        <p:spPr>
          <a:xfrm>
            <a:off x="2377440" y="4453890"/>
            <a:ext cx="3524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PRESENTED BY: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D2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79120" y="1325880"/>
            <a:ext cx="64922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often struggle to manage their study time efficiently before exams. Creating a proper study plan, understanding difficult topics, preparing revision notes, and practicing questions require significant time and effort.
</a:t>
            </a:r>
            <a:r>
              <a:rPr lang="en-US" sz="1600" b="1" dirty="0">
                <a:solidFill>
                  <a:srgbClr val="2D2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StudyGenie AI </a:t>
            </a:r>
            <a:r>
              <a:rPr lang="en-US" sz="160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Generative AI-based application that automatically creates a personalized study plan and provides additional learning assistance through AI.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223760" y="411480"/>
            <a:ext cx="4251960" cy="6035040"/>
          </a:xfrm>
          <a:prstGeom prst="roundRect">
            <a:avLst>
              <a:gd name="adj" fmla="val 2581"/>
            </a:avLst>
          </a:prstGeom>
          <a:solidFill>
            <a:srgbClr val="2D215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" name="Text 3"/>
          <p:cNvSpPr/>
          <p:nvPr/>
        </p:nvSpPr>
        <p:spPr>
          <a:xfrm>
            <a:off x="7680960" y="62179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Features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80960" y="1280160"/>
            <a:ext cx="548640" cy="548640"/>
          </a:xfrm>
          <a:prstGeom prst="ellipse">
            <a:avLst/>
          </a:prstGeom>
          <a:solidFill>
            <a:srgbClr val="473A6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7" name="Image 0" descr="/home/claude/studygenie/icons/calendar_blu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9832" y="1399032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366760" y="128016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Study Planner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7680960" y="2066544"/>
            <a:ext cx="548640" cy="548640"/>
          </a:xfrm>
          <a:prstGeom prst="ellipse">
            <a:avLst/>
          </a:prstGeom>
          <a:solidFill>
            <a:srgbClr val="473A6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0" name="Image 1" descr="/home/claude/studygenie/icons/book_blu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9832" y="218541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366760" y="2066544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Explanation</a:t>
            </a:r>
            <a:endParaRPr lang="en-US" dirty="0"/>
          </a:p>
        </p:txBody>
      </p:sp>
      <p:sp>
        <p:nvSpPr>
          <p:cNvPr id="12" name="Shape 8"/>
          <p:cNvSpPr/>
          <p:nvPr/>
        </p:nvSpPr>
        <p:spPr>
          <a:xfrm>
            <a:off x="7680960" y="2852928"/>
            <a:ext cx="548640" cy="548640"/>
          </a:xfrm>
          <a:prstGeom prst="ellipse">
            <a:avLst/>
          </a:prstGeom>
          <a:solidFill>
            <a:srgbClr val="473A6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3" name="Image 2" descr="/home/claude/studygenie/icons/penfancy_blu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9832" y="2971800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66760" y="285292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Notes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7680960" y="3639312"/>
            <a:ext cx="548640" cy="548640"/>
          </a:xfrm>
          <a:prstGeom prst="ellipse">
            <a:avLst/>
          </a:prstGeom>
          <a:solidFill>
            <a:srgbClr val="473A6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6" name="Image 3" descr="/home/claude/studygenie/icons/question_bl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9832" y="3758184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366760" y="3639312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Doubt Solver</a:t>
            </a:r>
            <a:endParaRPr lang="en-US" dirty="0"/>
          </a:p>
        </p:txBody>
      </p:sp>
      <p:sp>
        <p:nvSpPr>
          <p:cNvPr id="18" name="Shape 12"/>
          <p:cNvSpPr/>
          <p:nvPr/>
        </p:nvSpPr>
        <p:spPr>
          <a:xfrm>
            <a:off x="7680960" y="4425696"/>
            <a:ext cx="548640" cy="548640"/>
          </a:xfrm>
          <a:prstGeom prst="ellipse">
            <a:avLst/>
          </a:prstGeom>
          <a:solidFill>
            <a:srgbClr val="473A6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9" name="Image 4" descr="/home/claude/studygenie/icons/clipboardcheck_blu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99832" y="4544568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366760" y="4425696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Quiz Generator</a:t>
            </a:r>
            <a:endParaRPr lang="en-US" dirty="0"/>
          </a:p>
        </p:txBody>
      </p:sp>
      <p:sp>
        <p:nvSpPr>
          <p:cNvPr id="21" name="Shape 14"/>
          <p:cNvSpPr/>
          <p:nvPr/>
        </p:nvSpPr>
        <p:spPr>
          <a:xfrm>
            <a:off x="7680960" y="5212080"/>
            <a:ext cx="548640" cy="548640"/>
          </a:xfrm>
          <a:prstGeom prst="ellipse">
            <a:avLst/>
          </a:prstGeom>
          <a:solidFill>
            <a:srgbClr val="473A6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2" name="Image 5" descr="/home/claude/studygenie/icons/key_blus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99832" y="5330952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8366760" y="52120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 Generator</a:t>
            </a:r>
            <a:endParaRPr lang="en-US" dirty="0"/>
          </a:p>
        </p:txBody>
      </p:sp>
      <p:sp>
        <p:nvSpPr>
          <p:cNvPr id="24" name="Shape 16"/>
          <p:cNvSpPr/>
          <p:nvPr/>
        </p:nvSpPr>
        <p:spPr>
          <a:xfrm>
            <a:off x="548640" y="4114800"/>
            <a:ext cx="6492240" cy="1417320"/>
          </a:xfrm>
          <a:prstGeom prst="roundRect">
            <a:avLst>
              <a:gd name="adj" fmla="val 6452"/>
            </a:avLst>
          </a:prstGeom>
          <a:solidFill>
            <a:srgbClr val="F7E6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17"/>
          <p:cNvSpPr/>
          <p:nvPr/>
        </p:nvSpPr>
        <p:spPr>
          <a:xfrm>
            <a:off x="777240" y="4315968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6" name="Image 6" descr="/home/claude/studygenie/icons/robot_viole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120" y="4498848"/>
            <a:ext cx="640080" cy="64008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1874520" y="429768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2D2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always-on AI study companion — plans, explains, quizzes, and answers doubts, all in one place.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D2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686800" y="457200"/>
            <a:ext cx="2926080" cy="5943600"/>
          </a:xfrm>
          <a:prstGeom prst="roundRect">
            <a:avLst>
              <a:gd name="adj" fmla="val 3750"/>
            </a:avLst>
          </a:prstGeom>
          <a:solidFill>
            <a:srgbClr val="2D21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9464040" y="1005840"/>
            <a:ext cx="1371600" cy="1371600"/>
          </a:xfrm>
          <a:prstGeom prst="ellipse">
            <a:avLst/>
          </a:prstGeom>
          <a:solidFill>
            <a:srgbClr val="F2957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Image 0" descr="/home/claude/studygenie/icons/puzzle_pea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1280160"/>
            <a:ext cx="822960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69680" y="2606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App.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Gap.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9006840" y="3672529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D9C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AI-powered solution can simplify the entire exam preparation process.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94360" y="1280160"/>
            <a:ext cx="566928" cy="566928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9" name="Image 1" descr="/home/claude/studygenie/icons/calendar_blu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399032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1252728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scheduling</a:t>
            </a: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1325880" y="1554480"/>
            <a:ext cx="7040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planning an effective study schedule.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594360" y="2267712"/>
            <a:ext cx="566928" cy="566928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3" name="Image 2" descr="/home/claude/studygenie/icons/lightbulb_blu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2386584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25880" y="2240280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guidance</a:t>
            </a:r>
            <a:endParaRPr lang="en-US" dirty="0"/>
          </a:p>
        </p:txBody>
      </p:sp>
      <p:sp>
        <p:nvSpPr>
          <p:cNvPr id="15" name="Text 10"/>
          <p:cNvSpPr/>
          <p:nvPr/>
        </p:nvSpPr>
        <p:spPr>
          <a:xfrm>
            <a:off x="1325880" y="2542032"/>
            <a:ext cx="7040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personalized learning guidance for each student</a:t>
            </a:r>
            <a:r>
              <a:rPr lang="en-US" sz="115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94360" y="3255264"/>
            <a:ext cx="566928" cy="566928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" name="Image 3" descr="/home/claude/studygenie/icons/clock_bl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374136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25880" y="3227832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Time-consuming prep</a:t>
            </a:r>
            <a:endParaRPr lang="en-US" dirty="0"/>
          </a:p>
        </p:txBody>
      </p:sp>
      <p:sp>
        <p:nvSpPr>
          <p:cNvPr id="19" name="Text 13"/>
          <p:cNvSpPr/>
          <p:nvPr/>
        </p:nvSpPr>
        <p:spPr>
          <a:xfrm>
            <a:off x="1325880" y="3529584"/>
            <a:ext cx="7040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preparation takes significant time and effort</a:t>
            </a:r>
            <a:r>
              <a:rPr lang="en-US" sz="115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94360" y="4242816"/>
            <a:ext cx="566928" cy="566928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1" name="Image 4" descr="/home/claude/studygenie/icons/question_blu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4361688"/>
            <a:ext cx="329184" cy="32918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25880" y="4215384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Doubt clarification</a:t>
            </a:r>
            <a:endParaRPr lang="en-US" dirty="0"/>
          </a:p>
        </p:txBody>
      </p:sp>
      <p:sp>
        <p:nvSpPr>
          <p:cNvPr id="23" name="Text 16"/>
          <p:cNvSpPr/>
          <p:nvPr/>
        </p:nvSpPr>
        <p:spPr>
          <a:xfrm>
            <a:off x="1325880" y="4517136"/>
            <a:ext cx="7040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access to instant doubt clarification.</a:t>
            </a:r>
            <a:endParaRPr lang="en-US" dirty="0"/>
          </a:p>
        </p:txBody>
      </p:sp>
      <p:sp>
        <p:nvSpPr>
          <p:cNvPr id="24" name="Shape 17"/>
          <p:cNvSpPr/>
          <p:nvPr/>
        </p:nvSpPr>
        <p:spPr>
          <a:xfrm>
            <a:off x="594360" y="5230368"/>
            <a:ext cx="566928" cy="566928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5" name="Image 5" descr="/home/claude/studygenie/icons/clipboardcheck_blus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5349240"/>
            <a:ext cx="329184" cy="32918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325880" y="5202936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&amp; revision</a:t>
            </a:r>
            <a:endParaRPr lang="en-US" dirty="0"/>
          </a:p>
        </p:txBody>
      </p:sp>
      <p:sp>
        <p:nvSpPr>
          <p:cNvPr id="27" name="Text 19"/>
          <p:cNvSpPr/>
          <p:nvPr/>
        </p:nvSpPr>
        <p:spPr>
          <a:xfrm>
            <a:off x="1325880" y="5504688"/>
            <a:ext cx="7040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for practice quizzes and concise revision materials</a:t>
            </a:r>
            <a:r>
              <a:rPr lang="en-US" sz="115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3893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D2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StudyGenie AI is built to achieve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50320" y="146304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9E4F2"/>
            </a:solidFill>
            <a:prstDash val="solid"/>
          </a:ln>
          <a:effectLst>
            <a:outerShdw blurRad="88900" dist="38100" dir="5400000" algn="bl" rotWithShape="0">
              <a:srgbClr val="3D2E5C">
                <a:alpha val="15000"/>
              </a:srgbClr>
            </a:outerShdw>
          </a:effectLst>
        </p:spPr>
        <p:txBody>
          <a:bodyPr/>
          <a:lstStyle/>
          <a:p>
            <a:endParaRPr lang="en-IN" sz="1600"/>
          </a:p>
        </p:txBody>
      </p:sp>
      <p:sp>
        <p:nvSpPr>
          <p:cNvPr id="5" name="Shape 3"/>
          <p:cNvSpPr/>
          <p:nvPr/>
        </p:nvSpPr>
        <p:spPr>
          <a:xfrm>
            <a:off x="749808" y="1801368"/>
            <a:ext cx="621792" cy="621792"/>
          </a:xfrm>
          <a:prstGeom prst="ellipse">
            <a:avLst/>
          </a:prstGeom>
          <a:solidFill>
            <a:srgbClr val="F2957D"/>
          </a:solidFill>
          <a:ln/>
        </p:spPr>
        <p:txBody>
          <a:bodyPr/>
          <a:lstStyle/>
          <a:p>
            <a:endParaRPr lang="en-IN" sz="1600"/>
          </a:p>
        </p:txBody>
      </p:sp>
      <p:pic>
        <p:nvPicPr>
          <p:cNvPr id="6" name="Image 0" descr="/home/claude/studygenie/icons/layerGrou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1919866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514600"/>
            <a:ext cx="31638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application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49808" y="2880360"/>
            <a:ext cx="31638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an AI-based study planning application.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434840" y="160020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9E4F2"/>
            </a:solidFill>
            <a:prstDash val="solid"/>
          </a:ln>
          <a:effectLst>
            <a:outerShdw blurRad="88900" dist="38100" dir="5400000" algn="bl" rotWithShape="0">
              <a:srgbClr val="3D2E5C">
                <a:alpha val="15000"/>
              </a:srgbClr>
            </a:outerShdw>
          </a:effectLst>
        </p:spPr>
        <p:txBody>
          <a:bodyPr/>
          <a:lstStyle/>
          <a:p>
            <a:endParaRPr lang="en-IN" sz="1600"/>
          </a:p>
        </p:txBody>
      </p:sp>
      <p:sp>
        <p:nvSpPr>
          <p:cNvPr id="10" name="Shape 7"/>
          <p:cNvSpPr/>
          <p:nvPr/>
        </p:nvSpPr>
        <p:spPr>
          <a:xfrm>
            <a:off x="4636008" y="1801368"/>
            <a:ext cx="621792" cy="621792"/>
          </a:xfrm>
          <a:prstGeom prst="ellipse">
            <a:avLst/>
          </a:prstGeom>
          <a:solidFill>
            <a:srgbClr val="5FCFB0"/>
          </a:solidFill>
          <a:ln/>
        </p:spPr>
        <p:txBody>
          <a:bodyPr/>
          <a:lstStyle/>
          <a:p>
            <a:endParaRPr lang="en-IN" sz="1600"/>
          </a:p>
        </p:txBody>
      </p:sp>
      <p:pic>
        <p:nvPicPr>
          <p:cNvPr id="11" name="Image 1" descr="/home/claude/studygenie/icons/calenda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1938528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36008" y="2514600"/>
            <a:ext cx="31638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schedules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36008" y="2880360"/>
            <a:ext cx="31638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personalized study schedules for each student.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321040" y="160020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9E4F2"/>
            </a:solidFill>
            <a:prstDash val="solid"/>
          </a:ln>
          <a:effectLst>
            <a:outerShdw blurRad="88900" dist="38100" dir="5400000" algn="bl" rotWithShape="0">
              <a:srgbClr val="3D2E5C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1"/>
          <p:cNvSpPr/>
          <p:nvPr/>
        </p:nvSpPr>
        <p:spPr>
          <a:xfrm>
            <a:off x="8522208" y="1801368"/>
            <a:ext cx="621792" cy="621792"/>
          </a:xfrm>
          <a:prstGeom prst="ellipse">
            <a:avLst/>
          </a:prstGeom>
          <a:solidFill>
            <a:srgbClr val="F2957D"/>
          </a:solidFill>
          <a:ln/>
        </p:spPr>
        <p:txBody>
          <a:bodyPr/>
          <a:lstStyle/>
          <a:p>
            <a:endParaRPr lang="en-IN" sz="1600"/>
          </a:p>
        </p:txBody>
      </p:sp>
      <p:pic>
        <p:nvPicPr>
          <p:cNvPr id="16" name="Image 2" descr="/home/claude/studygenie/icons/lightbulb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9368" y="1938528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22208" y="2514600"/>
            <a:ext cx="31638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 concepts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522208" y="2880360"/>
            <a:ext cx="31638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difficult concepts in simple, clear language.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550320" y="386334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9E4F2"/>
            </a:solidFill>
            <a:prstDash val="solid"/>
          </a:ln>
          <a:effectLst>
            <a:outerShdw blurRad="88900" dist="38100" dir="5400000" algn="bl" rotWithShape="0">
              <a:srgbClr val="3D2E5C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749808" y="3995928"/>
            <a:ext cx="621792" cy="621792"/>
          </a:xfrm>
          <a:prstGeom prst="ellipse">
            <a:avLst/>
          </a:prstGeom>
          <a:solidFill>
            <a:srgbClr val="5FCFB0"/>
          </a:solidFill>
          <a:ln/>
        </p:spPr>
        <p:txBody>
          <a:bodyPr/>
          <a:lstStyle/>
          <a:p>
            <a:endParaRPr lang="en-IN" sz="1600"/>
          </a:p>
        </p:txBody>
      </p:sp>
      <p:pic>
        <p:nvPicPr>
          <p:cNvPr id="21" name="Image 3" descr="/home/claude/studygenie/icons/boo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413308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9808" y="4709160"/>
            <a:ext cx="31638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Concise notes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49808" y="5074920"/>
            <a:ext cx="31638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concise revision notes for quick recall</a:t>
            </a:r>
            <a:r>
              <a:rPr lang="en-US" sz="105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434840" y="379476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9E4F2"/>
            </a:solidFill>
            <a:prstDash val="solid"/>
          </a:ln>
          <a:effectLst>
            <a:outerShdw blurRad="88900" dist="38100" dir="5400000" algn="bl" rotWithShape="0">
              <a:srgbClr val="3D2E5C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19"/>
          <p:cNvSpPr/>
          <p:nvPr/>
        </p:nvSpPr>
        <p:spPr>
          <a:xfrm>
            <a:off x="4636008" y="3995928"/>
            <a:ext cx="621792" cy="621792"/>
          </a:xfrm>
          <a:prstGeom prst="ellipse">
            <a:avLst/>
          </a:prstGeom>
          <a:solidFill>
            <a:srgbClr val="F2957D"/>
          </a:solidFill>
          <a:ln/>
        </p:spPr>
        <p:txBody>
          <a:bodyPr/>
          <a:lstStyle/>
          <a:p>
            <a:endParaRPr lang="en-IN" sz="1600"/>
          </a:p>
        </p:txBody>
      </p:sp>
      <p:pic>
        <p:nvPicPr>
          <p:cNvPr id="26" name="Image 4" descr="/home/claude/studygenie/icons/clipboardcheck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3168" y="4133088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636008" y="4709160"/>
            <a:ext cx="31638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Self-assessment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4636008" y="5074920"/>
            <a:ext cx="31638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AI-based quizzes for self-assessment</a:t>
            </a:r>
            <a:r>
              <a:rPr lang="en-US" sz="105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321040" y="379476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9E4F2"/>
            </a:solidFill>
            <a:prstDash val="solid"/>
          </a:ln>
          <a:effectLst>
            <a:outerShdw blurRad="88900" dist="38100" dir="5400000" algn="bl" rotWithShape="0">
              <a:srgbClr val="3D2E5C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3"/>
          <p:cNvSpPr/>
          <p:nvPr/>
        </p:nvSpPr>
        <p:spPr>
          <a:xfrm>
            <a:off x="8522208" y="3995928"/>
            <a:ext cx="621792" cy="621792"/>
          </a:xfrm>
          <a:prstGeom prst="ellipse">
            <a:avLst/>
          </a:prstGeom>
          <a:solidFill>
            <a:srgbClr val="5FCFB0"/>
          </a:solidFill>
          <a:ln/>
        </p:spPr>
        <p:txBody>
          <a:bodyPr/>
          <a:lstStyle/>
          <a:p>
            <a:endParaRPr lang="en-IN" sz="1600"/>
          </a:p>
        </p:txBody>
      </p:sp>
      <p:pic>
        <p:nvPicPr>
          <p:cNvPr id="31" name="Image 5" descr="/home/claude/studygenie/icons/question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59368" y="4133088"/>
            <a:ext cx="347472" cy="34747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522208" y="4709160"/>
            <a:ext cx="31638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doubt-solving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8522208" y="5074920"/>
            <a:ext cx="31638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students' doubts instantly, any time</a:t>
            </a:r>
            <a:r>
              <a:rPr lang="en-US" sz="1050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548640" y="5989320"/>
            <a:ext cx="11338560" cy="0"/>
          </a:xfrm>
          <a:prstGeom prst="roundRect">
            <a:avLst/>
          </a:prstGeom>
          <a:solidFill>
            <a:srgbClr val="FAF8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Shape 27"/>
          <p:cNvSpPr/>
          <p:nvPr/>
        </p:nvSpPr>
        <p:spPr>
          <a:xfrm>
            <a:off x="548640" y="5870448"/>
            <a:ext cx="11338560" cy="713232"/>
          </a:xfrm>
          <a:prstGeom prst="roundRect">
            <a:avLst>
              <a:gd name="adj" fmla="val 12821"/>
            </a:avLst>
          </a:prstGeom>
          <a:solidFill>
            <a:srgbClr val="2D21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Shape 28"/>
          <p:cNvSpPr/>
          <p:nvPr/>
        </p:nvSpPr>
        <p:spPr>
          <a:xfrm>
            <a:off x="713232" y="5952744"/>
            <a:ext cx="548640" cy="548640"/>
          </a:xfrm>
          <a:prstGeom prst="ellipse">
            <a:avLst/>
          </a:prstGeom>
          <a:solidFill>
            <a:srgbClr val="F2957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7" name="Image 6" descr="/home/claude/studygenie/icons/chartli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" y="6071616"/>
            <a:ext cx="310896" cy="310896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1417320" y="5870448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 efficiency</a:t>
            </a:r>
            <a:endParaRPr lang="en-US" sz="1300" dirty="0"/>
          </a:p>
        </p:txBody>
      </p:sp>
      <p:sp>
        <p:nvSpPr>
          <p:cNvPr id="39" name="Text 30"/>
          <p:cNvSpPr/>
          <p:nvPr/>
        </p:nvSpPr>
        <p:spPr>
          <a:xfrm>
            <a:off x="4251960" y="5870448"/>
            <a:ext cx="7452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9C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overall exam preparation efficiency.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D2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74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student input to a complete, AI-generated study kit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749040" cy="960120"/>
          </a:xfrm>
          <a:prstGeom prst="roundRect">
            <a:avLst>
              <a:gd name="adj" fmla="val 9524"/>
            </a:avLst>
          </a:prstGeom>
          <a:solidFill>
            <a:srgbClr val="2D21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046720" y="5824728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6" name="Image 0" descr="/home/claude/studygenie/icons/penfanc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17145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52704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508760" y="18745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4D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subject, topics, days left, and study hours</a:t>
            </a:r>
            <a:r>
              <a:rPr lang="en-US" sz="1000" dirty="0">
                <a:solidFill>
                  <a:srgbClr val="E4D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276856" y="2377440"/>
            <a:ext cx="292608" cy="292608"/>
          </a:xfrm>
          <a:prstGeom prst="ellipse">
            <a:avLst/>
          </a:prstGeom>
          <a:solidFill>
            <a:srgbClr val="F295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2240280" y="23591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743200"/>
            <a:ext cx="3749040" cy="960120"/>
          </a:xfrm>
          <a:prstGeom prst="roundRect">
            <a:avLst>
              <a:gd name="adj" fmla="val 9524"/>
            </a:avLst>
          </a:prstGeom>
          <a:solidFill>
            <a:srgbClr val="5FCFB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9"/>
          <p:cNvSpPr/>
          <p:nvPr/>
        </p:nvSpPr>
        <p:spPr>
          <a:xfrm>
            <a:off x="749808" y="29032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3" name="Image 1" descr="/home/claude/studygenie/icons/robo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04038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08760" y="285292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Model</a:t>
            </a: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1508760" y="32004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4D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by the AI engine (gpt-4.1-nano</a:t>
            </a:r>
            <a:r>
              <a:rPr lang="en-US" sz="1000" dirty="0">
                <a:solidFill>
                  <a:srgbClr val="E4D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2276856" y="3703320"/>
            <a:ext cx="292608" cy="292608"/>
          </a:xfrm>
          <a:prstGeom prst="ellipse">
            <a:avLst/>
          </a:prstGeom>
          <a:solidFill>
            <a:srgbClr val="F2957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3"/>
          <p:cNvSpPr/>
          <p:nvPr/>
        </p:nvSpPr>
        <p:spPr>
          <a:xfrm>
            <a:off x="2240280" y="36850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4069080"/>
            <a:ext cx="3749040" cy="960120"/>
          </a:xfrm>
          <a:prstGeom prst="roundRect">
            <a:avLst>
              <a:gd name="adj" fmla="val 9524"/>
            </a:avLst>
          </a:prstGeom>
          <a:solidFill>
            <a:srgbClr val="2D21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5"/>
          <p:cNvSpPr/>
          <p:nvPr/>
        </p:nvSpPr>
        <p:spPr>
          <a:xfrm>
            <a:off x="749808" y="42291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0" name="Image 2" descr="/home/claude/studygenie/icons/slidersh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436626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508760" y="417880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through Gradio</a:t>
            </a:r>
            <a:endParaRPr lang="en-US" dirty="0"/>
          </a:p>
        </p:txBody>
      </p:sp>
      <p:sp>
        <p:nvSpPr>
          <p:cNvPr id="22" name="Text 17"/>
          <p:cNvSpPr/>
          <p:nvPr/>
        </p:nvSpPr>
        <p:spPr>
          <a:xfrm>
            <a:off x="1508760" y="452628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4D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are shown to the student via the Gradio interface.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4709160" y="1417320"/>
            <a:ext cx="7234024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12700">
            <a:solidFill>
              <a:srgbClr val="E9E4F2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4" name="Text 19"/>
          <p:cNvSpPr/>
          <p:nvPr/>
        </p:nvSpPr>
        <p:spPr>
          <a:xfrm>
            <a:off x="4983480" y="157276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2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Generates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4983480" y="2148840"/>
            <a:ext cx="3246120" cy="868680"/>
          </a:xfrm>
          <a:prstGeom prst="roundRect">
            <a:avLst>
              <a:gd name="adj" fmla="val 9474"/>
            </a:avLst>
          </a:prstGeom>
          <a:solidFill>
            <a:srgbClr val="FAF8FD"/>
          </a:solidFill>
          <a:ln w="12700">
            <a:solidFill>
              <a:srgbClr val="E9E4F2"/>
            </a:solidFill>
            <a:prstDash val="solid"/>
          </a:ln>
        </p:spPr>
        <p:txBody>
          <a:bodyPr/>
          <a:lstStyle/>
          <a:p>
            <a:endParaRPr lang="en-IN" sz="2000"/>
          </a:p>
        </p:txBody>
      </p:sp>
      <p:sp>
        <p:nvSpPr>
          <p:cNvPr id="26" name="Shape 21"/>
          <p:cNvSpPr/>
          <p:nvPr/>
        </p:nvSpPr>
        <p:spPr>
          <a:xfrm>
            <a:off x="5120640" y="2327148"/>
            <a:ext cx="512064" cy="512064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 sz="2000"/>
          </a:p>
        </p:txBody>
      </p:sp>
      <p:pic>
        <p:nvPicPr>
          <p:cNvPr id="27" name="Image 3" descr="/home/claude/studygenie/icons/calendar_bl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0368" y="243687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715000" y="21488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Plan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8458200" y="2148840"/>
            <a:ext cx="3246120" cy="868680"/>
          </a:xfrm>
          <a:prstGeom prst="roundRect">
            <a:avLst>
              <a:gd name="adj" fmla="val 9474"/>
            </a:avLst>
          </a:prstGeom>
          <a:solidFill>
            <a:srgbClr val="FAF8FD"/>
          </a:solidFill>
          <a:ln w="12700">
            <a:solidFill>
              <a:srgbClr val="E9E4F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4"/>
          <p:cNvSpPr/>
          <p:nvPr/>
        </p:nvSpPr>
        <p:spPr>
          <a:xfrm>
            <a:off x="8595360" y="2327148"/>
            <a:ext cx="512064" cy="512064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 sz="2000"/>
          </a:p>
        </p:txBody>
      </p:sp>
      <p:pic>
        <p:nvPicPr>
          <p:cNvPr id="31" name="Image 4" descr="/home/claude/studygenie/icons/lightbulb_blu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5088" y="2436876"/>
            <a:ext cx="292608" cy="292608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189720" y="21488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Explanation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4983480" y="3200400"/>
            <a:ext cx="3246120" cy="868680"/>
          </a:xfrm>
          <a:prstGeom prst="roundRect">
            <a:avLst>
              <a:gd name="adj" fmla="val 9474"/>
            </a:avLst>
          </a:prstGeom>
          <a:solidFill>
            <a:srgbClr val="FAF8FD"/>
          </a:solidFill>
          <a:ln w="12700">
            <a:solidFill>
              <a:srgbClr val="E9E4F2"/>
            </a:solidFill>
            <a:prstDash val="solid"/>
          </a:ln>
        </p:spPr>
        <p:txBody>
          <a:bodyPr/>
          <a:lstStyle/>
          <a:p>
            <a:endParaRPr lang="en-IN" sz="2000"/>
          </a:p>
        </p:txBody>
      </p:sp>
      <p:sp>
        <p:nvSpPr>
          <p:cNvPr id="34" name="Shape 27"/>
          <p:cNvSpPr/>
          <p:nvPr/>
        </p:nvSpPr>
        <p:spPr>
          <a:xfrm>
            <a:off x="5120640" y="3378708"/>
            <a:ext cx="512064" cy="512064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 sz="2000"/>
          </a:p>
        </p:txBody>
      </p:sp>
      <p:pic>
        <p:nvPicPr>
          <p:cNvPr id="35" name="Image 5" descr="/home/claude/studygenie/icons/book_blus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30368" y="3488436"/>
            <a:ext cx="292608" cy="29260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5715000" y="320040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Notes</a:t>
            </a:r>
            <a:endParaRPr lang="en-US" sz="2000" dirty="0"/>
          </a:p>
        </p:txBody>
      </p:sp>
      <p:sp>
        <p:nvSpPr>
          <p:cNvPr id="37" name="Shape 29"/>
          <p:cNvSpPr/>
          <p:nvPr/>
        </p:nvSpPr>
        <p:spPr>
          <a:xfrm>
            <a:off x="8458200" y="3200400"/>
            <a:ext cx="3246120" cy="868680"/>
          </a:xfrm>
          <a:prstGeom prst="roundRect">
            <a:avLst>
              <a:gd name="adj" fmla="val 9474"/>
            </a:avLst>
          </a:prstGeom>
          <a:solidFill>
            <a:srgbClr val="FAF8FD"/>
          </a:solidFill>
          <a:ln w="12700">
            <a:solidFill>
              <a:srgbClr val="E9E4F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Shape 30"/>
          <p:cNvSpPr/>
          <p:nvPr/>
        </p:nvSpPr>
        <p:spPr>
          <a:xfrm>
            <a:off x="8595360" y="3378708"/>
            <a:ext cx="512064" cy="512064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 sz="2000"/>
          </a:p>
        </p:txBody>
      </p:sp>
      <p:pic>
        <p:nvPicPr>
          <p:cNvPr id="39" name="Image 6" descr="/home/claude/studygenie/icons/clipboardcheck_blus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05088" y="3488436"/>
            <a:ext cx="292608" cy="292608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9189720" y="320040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Quiz</a:t>
            </a:r>
            <a:endParaRPr lang="en-US" sz="2000" dirty="0"/>
          </a:p>
        </p:txBody>
      </p:sp>
      <p:sp>
        <p:nvSpPr>
          <p:cNvPr id="41" name="Shape 32"/>
          <p:cNvSpPr/>
          <p:nvPr/>
        </p:nvSpPr>
        <p:spPr>
          <a:xfrm>
            <a:off x="4983480" y="4251960"/>
            <a:ext cx="3246120" cy="868680"/>
          </a:xfrm>
          <a:prstGeom prst="roundRect">
            <a:avLst>
              <a:gd name="adj" fmla="val 9474"/>
            </a:avLst>
          </a:prstGeom>
          <a:solidFill>
            <a:srgbClr val="FAF8FD"/>
          </a:solidFill>
          <a:ln w="12700">
            <a:solidFill>
              <a:srgbClr val="E9E4F2"/>
            </a:solidFill>
            <a:prstDash val="solid"/>
          </a:ln>
        </p:spPr>
        <p:txBody>
          <a:bodyPr/>
          <a:lstStyle/>
          <a:p>
            <a:endParaRPr lang="en-IN" sz="2000"/>
          </a:p>
        </p:txBody>
      </p:sp>
      <p:sp>
        <p:nvSpPr>
          <p:cNvPr id="42" name="Shape 33"/>
          <p:cNvSpPr/>
          <p:nvPr/>
        </p:nvSpPr>
        <p:spPr>
          <a:xfrm>
            <a:off x="5120640" y="4430268"/>
            <a:ext cx="512064" cy="512064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 sz="2000"/>
          </a:p>
        </p:txBody>
      </p:sp>
      <p:pic>
        <p:nvPicPr>
          <p:cNvPr id="43" name="Image 7" descr="/home/claude/studygenie/icons/target_blush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368" y="4539996"/>
            <a:ext cx="292608" cy="292608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5715000" y="425196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Tips</a:t>
            </a:r>
            <a:endParaRPr lang="en-US" sz="2000" dirty="0"/>
          </a:p>
        </p:txBody>
      </p:sp>
      <p:sp>
        <p:nvSpPr>
          <p:cNvPr id="45" name="Shape 35"/>
          <p:cNvSpPr/>
          <p:nvPr/>
        </p:nvSpPr>
        <p:spPr>
          <a:xfrm>
            <a:off x="8458200" y="4251960"/>
            <a:ext cx="3246120" cy="868680"/>
          </a:xfrm>
          <a:prstGeom prst="roundRect">
            <a:avLst>
              <a:gd name="adj" fmla="val 9474"/>
            </a:avLst>
          </a:prstGeom>
          <a:solidFill>
            <a:srgbClr val="FAF8FD"/>
          </a:solidFill>
          <a:ln w="12700">
            <a:solidFill>
              <a:srgbClr val="E9E4F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36"/>
          <p:cNvSpPr/>
          <p:nvPr/>
        </p:nvSpPr>
        <p:spPr>
          <a:xfrm>
            <a:off x="8595360" y="4430268"/>
            <a:ext cx="512064" cy="512064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 sz="2000"/>
          </a:p>
        </p:txBody>
      </p:sp>
      <p:pic>
        <p:nvPicPr>
          <p:cNvPr id="47" name="Image 8" descr="/home/claude/studygenie/icons/question_blus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05088" y="4539996"/>
            <a:ext cx="292608" cy="292608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9189720" y="425196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Doubt Solutions</a:t>
            </a:r>
            <a:endParaRPr lang="en-US" sz="2000" dirty="0"/>
          </a:p>
        </p:txBody>
      </p:sp>
      <p:sp>
        <p:nvSpPr>
          <p:cNvPr id="49" name="Shape 38"/>
          <p:cNvSpPr/>
          <p:nvPr/>
        </p:nvSpPr>
        <p:spPr>
          <a:xfrm>
            <a:off x="4983480" y="5303520"/>
            <a:ext cx="3246120" cy="868680"/>
          </a:xfrm>
          <a:prstGeom prst="roundRect">
            <a:avLst>
              <a:gd name="adj" fmla="val 9474"/>
            </a:avLst>
          </a:prstGeom>
          <a:solidFill>
            <a:srgbClr val="FAF8FD"/>
          </a:solidFill>
          <a:ln w="12700">
            <a:solidFill>
              <a:srgbClr val="E9E4F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39"/>
          <p:cNvSpPr/>
          <p:nvPr/>
        </p:nvSpPr>
        <p:spPr>
          <a:xfrm>
            <a:off x="5120640" y="5481828"/>
            <a:ext cx="512064" cy="512064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 sz="2000"/>
          </a:p>
        </p:txBody>
      </p:sp>
      <p:pic>
        <p:nvPicPr>
          <p:cNvPr id="51" name="Image 9" descr="/home/claude/studygenie/icons/key_blush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30368" y="5591556"/>
            <a:ext cx="292608" cy="292608"/>
          </a:xfrm>
          <a:prstGeom prst="rect">
            <a:avLst/>
          </a:prstGeom>
        </p:spPr>
      </p:pic>
      <p:sp>
        <p:nvSpPr>
          <p:cNvPr id="52" name="Text 40"/>
          <p:cNvSpPr/>
          <p:nvPr/>
        </p:nvSpPr>
        <p:spPr>
          <a:xfrm>
            <a:off x="5715000" y="530352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2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D2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&amp; Expected Output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5212080"/>
          </a:xfrm>
          <a:prstGeom prst="roundRect">
            <a:avLst>
              <a:gd name="adj" fmla="val 2105"/>
            </a:avLst>
          </a:prstGeom>
          <a:solidFill>
            <a:srgbClr val="2D21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868680" y="14630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Used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68680" y="2103120"/>
            <a:ext cx="530352" cy="530352"/>
          </a:xfrm>
          <a:prstGeom prst="ellipse">
            <a:avLst/>
          </a:prstGeom>
          <a:solidFill>
            <a:srgbClr val="473A6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6" name="Image 0" descr="/home/claude/studygenie/icons/python_blu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22199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36192" y="2103120"/>
            <a:ext cx="4206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868680" y="2788920"/>
            <a:ext cx="530352" cy="530352"/>
          </a:xfrm>
          <a:prstGeom prst="ellipse">
            <a:avLst/>
          </a:prstGeom>
          <a:solidFill>
            <a:srgbClr val="473A6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9" name="Image 1" descr="/home/claude/studygenie/icons/cloud_blu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2907792"/>
            <a:ext cx="292608" cy="2926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36192" y="2788920"/>
            <a:ext cx="4206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868680" y="3474720"/>
            <a:ext cx="530352" cy="530352"/>
          </a:xfrm>
          <a:prstGeom prst="ellipse">
            <a:avLst/>
          </a:prstGeom>
          <a:solidFill>
            <a:srgbClr val="473A6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2" name="Image 2" descr="/home/claude/studygenie/icons/slidersh_blu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3593592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36192" y="3474720"/>
            <a:ext cx="4206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</a:t>
            </a:r>
            <a:endParaRPr lang="en-US" sz="2400" dirty="0"/>
          </a:p>
        </p:txBody>
      </p:sp>
      <p:sp>
        <p:nvSpPr>
          <p:cNvPr id="14" name="Shape 9"/>
          <p:cNvSpPr/>
          <p:nvPr/>
        </p:nvSpPr>
        <p:spPr>
          <a:xfrm>
            <a:off x="868680" y="4160520"/>
            <a:ext cx="530352" cy="530352"/>
          </a:xfrm>
          <a:prstGeom prst="ellipse">
            <a:avLst/>
          </a:prstGeom>
          <a:solidFill>
            <a:srgbClr val="473A6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5" name="Image 3" descr="/home/claude/studygenie/icons/openai_bl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552" y="4279392"/>
            <a:ext cx="292608" cy="2926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536192" y="4160520"/>
            <a:ext cx="4206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Python SDK</a:t>
            </a:r>
            <a:endParaRPr lang="en-US" sz="2400" dirty="0"/>
          </a:p>
        </p:txBody>
      </p:sp>
      <p:sp>
        <p:nvSpPr>
          <p:cNvPr id="17" name="Shape 11"/>
          <p:cNvSpPr/>
          <p:nvPr/>
        </p:nvSpPr>
        <p:spPr>
          <a:xfrm>
            <a:off x="868680" y="4846320"/>
            <a:ext cx="530352" cy="530352"/>
          </a:xfrm>
          <a:prstGeom prst="ellipse">
            <a:avLst/>
          </a:prstGeom>
          <a:solidFill>
            <a:srgbClr val="473A6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8" name="Image 4" descr="/home/claude/studygenie/icons/robot_blu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" y="4965192"/>
            <a:ext cx="292608" cy="29260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36192" y="4846320"/>
            <a:ext cx="4206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GPT-4.1 Nano API</a:t>
            </a:r>
            <a:endParaRPr lang="en-US" sz="2400" dirty="0"/>
          </a:p>
        </p:txBody>
      </p:sp>
      <p:sp>
        <p:nvSpPr>
          <p:cNvPr id="20" name="Shape 13"/>
          <p:cNvSpPr/>
          <p:nvPr/>
        </p:nvSpPr>
        <p:spPr>
          <a:xfrm>
            <a:off x="868680" y="5532120"/>
            <a:ext cx="530352" cy="530352"/>
          </a:xfrm>
          <a:prstGeom prst="ellipse">
            <a:avLst/>
          </a:prstGeom>
          <a:solidFill>
            <a:srgbClr val="473A6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1" name="Image 5" descr="/home/claude/studygenie/icons/filepdf_blus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552" y="5650992"/>
            <a:ext cx="292608" cy="292608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536192" y="5532120"/>
            <a:ext cx="4206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FPDF (PDF generation, optional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6172200" y="1234440"/>
            <a:ext cx="5440680" cy="5408956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9E4F2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4" name="Text 16"/>
          <p:cNvSpPr/>
          <p:nvPr/>
        </p:nvSpPr>
        <p:spPr>
          <a:xfrm>
            <a:off x="6492240" y="14630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D21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Output</a:t>
            </a:r>
            <a:endParaRPr lang="en-US" sz="2800" dirty="0"/>
          </a:p>
        </p:txBody>
      </p:sp>
      <p:sp>
        <p:nvSpPr>
          <p:cNvPr id="25" name="Shape 17"/>
          <p:cNvSpPr/>
          <p:nvPr/>
        </p:nvSpPr>
        <p:spPr>
          <a:xfrm>
            <a:off x="6492240" y="2103120"/>
            <a:ext cx="530352" cy="530352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6" name="Image 6" descr="/home/claude/studygenie/icons/calendar_blus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11112" y="2221992"/>
            <a:ext cx="292608" cy="29260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159752" y="2103120"/>
            <a:ext cx="4297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Study Plan</a:t>
            </a:r>
            <a:endParaRPr lang="en-US" sz="2400" dirty="0"/>
          </a:p>
        </p:txBody>
      </p:sp>
      <p:sp>
        <p:nvSpPr>
          <p:cNvPr id="28" name="Shape 19"/>
          <p:cNvSpPr/>
          <p:nvPr/>
        </p:nvSpPr>
        <p:spPr>
          <a:xfrm>
            <a:off x="6492240" y="2724912"/>
            <a:ext cx="530352" cy="530352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9" name="Image 7" descr="/home/claude/studygenie/icons/lightbulb_blush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1112" y="2843784"/>
            <a:ext cx="292608" cy="29260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7159752" y="2724912"/>
            <a:ext cx="4297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Explanation</a:t>
            </a:r>
            <a:endParaRPr lang="en-US" sz="2400" dirty="0"/>
          </a:p>
        </p:txBody>
      </p:sp>
      <p:sp>
        <p:nvSpPr>
          <p:cNvPr id="31" name="Shape 21"/>
          <p:cNvSpPr/>
          <p:nvPr/>
        </p:nvSpPr>
        <p:spPr>
          <a:xfrm>
            <a:off x="6492240" y="3346704"/>
            <a:ext cx="530352" cy="530352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2" name="Image 8" descr="/home/claude/studygenie/icons/book_blus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11112" y="3465576"/>
            <a:ext cx="292608" cy="292608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7159752" y="3346704"/>
            <a:ext cx="4297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Notes</a:t>
            </a:r>
            <a:endParaRPr lang="en-US" sz="2400" dirty="0"/>
          </a:p>
        </p:txBody>
      </p:sp>
      <p:sp>
        <p:nvSpPr>
          <p:cNvPr id="34" name="Shape 23"/>
          <p:cNvSpPr/>
          <p:nvPr/>
        </p:nvSpPr>
        <p:spPr>
          <a:xfrm>
            <a:off x="6492240" y="3968496"/>
            <a:ext cx="530352" cy="530352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5" name="Image 9" descr="/home/claude/studygenie/icons/clipboardcheck_blush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11112" y="4087368"/>
            <a:ext cx="292608" cy="292608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7159752" y="3968496"/>
            <a:ext cx="4297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Practice Quiz</a:t>
            </a:r>
            <a:endParaRPr lang="en-US" sz="2400" dirty="0"/>
          </a:p>
        </p:txBody>
      </p:sp>
      <p:sp>
        <p:nvSpPr>
          <p:cNvPr id="37" name="Shape 25"/>
          <p:cNvSpPr/>
          <p:nvPr/>
        </p:nvSpPr>
        <p:spPr>
          <a:xfrm>
            <a:off x="6492240" y="4590288"/>
            <a:ext cx="530352" cy="530352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8" name="Image 10" descr="/home/claude/studygenie/icons/key_blus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11112" y="4709160"/>
            <a:ext cx="292608" cy="292608"/>
          </a:xfrm>
          <a:prstGeom prst="rect">
            <a:avLst/>
          </a:prstGeom>
        </p:spPr>
      </p:pic>
      <p:sp>
        <p:nvSpPr>
          <p:cNvPr id="39" name="Text 26"/>
          <p:cNvSpPr/>
          <p:nvPr/>
        </p:nvSpPr>
        <p:spPr>
          <a:xfrm>
            <a:off x="7159752" y="4590288"/>
            <a:ext cx="4297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2400" dirty="0"/>
          </a:p>
        </p:txBody>
      </p:sp>
      <p:sp>
        <p:nvSpPr>
          <p:cNvPr id="40" name="Shape 27"/>
          <p:cNvSpPr/>
          <p:nvPr/>
        </p:nvSpPr>
        <p:spPr>
          <a:xfrm>
            <a:off x="6492240" y="5212080"/>
            <a:ext cx="530352" cy="530352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1" name="Image 11" descr="/home/claude/studygenie/icons/question_blush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11112" y="5330952"/>
            <a:ext cx="292608" cy="292608"/>
          </a:xfrm>
          <a:prstGeom prst="rect">
            <a:avLst/>
          </a:prstGeom>
        </p:spPr>
      </p:pic>
      <p:sp>
        <p:nvSpPr>
          <p:cNvPr id="42" name="Text 28"/>
          <p:cNvSpPr/>
          <p:nvPr/>
        </p:nvSpPr>
        <p:spPr>
          <a:xfrm>
            <a:off x="7159752" y="5212080"/>
            <a:ext cx="4297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Doubt Solver Response</a:t>
            </a:r>
            <a:endParaRPr lang="en-US" sz="2400" dirty="0"/>
          </a:p>
        </p:txBody>
      </p:sp>
      <p:sp>
        <p:nvSpPr>
          <p:cNvPr id="43" name="Shape 29"/>
          <p:cNvSpPr/>
          <p:nvPr/>
        </p:nvSpPr>
        <p:spPr>
          <a:xfrm>
            <a:off x="6492240" y="5833872"/>
            <a:ext cx="530352" cy="530352"/>
          </a:xfrm>
          <a:prstGeom prst="ellipse">
            <a:avLst/>
          </a:prstGeom>
          <a:solidFill>
            <a:srgbClr val="F7E6E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4" name="Image 12" descr="/home/claude/studygenie/icons/filepdf_blus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1112" y="5952744"/>
            <a:ext cx="292608" cy="292608"/>
          </a:xfrm>
          <a:prstGeom prst="rect">
            <a:avLst/>
          </a:prstGeom>
        </p:spPr>
      </p:pic>
      <p:sp>
        <p:nvSpPr>
          <p:cNvPr id="45" name="Text 30"/>
          <p:cNvSpPr/>
          <p:nvPr/>
        </p:nvSpPr>
        <p:spPr>
          <a:xfrm>
            <a:off x="7159752" y="5889858"/>
            <a:ext cx="4297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Downloadable PDF Report (optional)</a:t>
            </a:r>
            <a:endParaRPr lang="en-US" sz="2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D21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463040"/>
            <a:ext cx="3840480" cy="3840480"/>
          </a:xfrm>
          <a:prstGeom prst="ellipse">
            <a:avLst/>
          </a:prstGeom>
          <a:solidFill>
            <a:srgbClr val="F2957D">
              <a:alpha val="3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3657600" cy="3657600"/>
          </a:xfrm>
          <a:prstGeom prst="ellipse">
            <a:avLst/>
          </a:prstGeom>
          <a:solidFill>
            <a:srgbClr val="5FCFB0">
              <a:alpha val="4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94360" y="1737360"/>
            <a:ext cx="685800" cy="685800"/>
          </a:xfrm>
          <a:prstGeom prst="ellipse">
            <a:avLst/>
          </a:prstGeom>
          <a:solidFill>
            <a:srgbClr val="F2957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6" name="Image 0" descr="/home/claude/studygenie/icons/graduate_pea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18836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600200"/>
            <a:ext cx="9692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E4D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StudyGenie AI simplifies exam preparation by combining study planning, concept explanation, revision support, quiz generation, and doubt solving into a single AI-powered platform.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94360" y="3429000"/>
            <a:ext cx="685800" cy="685800"/>
          </a:xfrm>
          <a:prstGeom prst="ellipse">
            <a:avLst/>
          </a:prstGeom>
          <a:solidFill>
            <a:srgbClr val="F2957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9" name="Image 1" descr="/home/claude/studygenie/icons/brain_pea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3575304"/>
            <a:ext cx="393192" cy="3931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3291840"/>
            <a:ext cx="9692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E4D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demonstrates the practical use of Python and Generative AI to enhance personalized learning and improve students' productivity.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594360" y="5394960"/>
            <a:ext cx="10972800" cy="777240"/>
          </a:xfrm>
          <a:prstGeom prst="roundRect">
            <a:avLst>
              <a:gd name="adj" fmla="val 11765"/>
            </a:avLst>
          </a:prstGeom>
          <a:solidFill>
            <a:srgbClr val="473A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8"/>
          <p:cNvSpPr/>
          <p:nvPr/>
        </p:nvSpPr>
        <p:spPr>
          <a:xfrm>
            <a:off x="594360" y="539496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F6C8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AI companion — from planning to practice to doubt-clearing</a:t>
            </a:r>
            <a:r>
              <a:rPr lang="en-US" sz="1500" i="1" dirty="0">
                <a:solidFill>
                  <a:srgbClr val="F6C8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D21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114800" cy="4114800"/>
          </a:xfrm>
          <a:prstGeom prst="ellipse">
            <a:avLst/>
          </a:prstGeom>
          <a:solidFill>
            <a:srgbClr val="F2957D">
              <a:alpha val="3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1463040" y="4572000"/>
            <a:ext cx="3840480" cy="3840480"/>
          </a:xfrm>
          <a:prstGeom prst="ellipse">
            <a:avLst/>
          </a:prstGeom>
          <a:solidFill>
            <a:srgbClr val="5FCFB0">
              <a:alpha val="4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5394960" y="1188720"/>
            <a:ext cx="1371600" cy="1371600"/>
          </a:xfrm>
          <a:prstGeom prst="ellipse">
            <a:avLst/>
          </a:prstGeom>
          <a:solidFill>
            <a:srgbClr val="F2957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Image 0" descr="/home/claude/studygenie/icons/handshake_pea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1481328"/>
            <a:ext cx="786384" cy="7863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88036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457200" y="3794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D9C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feedback are welcome</a:t>
            </a:r>
            <a:r>
              <a:rPr lang="en-US" sz="1600" dirty="0">
                <a:solidFill>
                  <a:srgbClr val="D9C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480560" y="4480560"/>
            <a:ext cx="3200400" cy="0"/>
          </a:xfrm>
          <a:prstGeom prst="line">
            <a:avLst/>
          </a:prstGeom>
          <a:noFill/>
          <a:ln w="12700">
            <a:solidFill>
              <a:srgbClr val="F2957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457200" y="4709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StudyGenie AI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457200" y="5141595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D9C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with Generative AI (VAC)</a:t>
            </a:r>
            <a:endParaRPr lang="en-US" sz="20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485</Words>
  <Application>Microsoft Office PowerPoint</Application>
  <PresentationFormat>Widescreen</PresentationFormat>
  <Paragraphs>97</Paragraphs>
  <Slides>8</Slides>
  <Notes>8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Mithra Ramesh</cp:lastModifiedBy>
  <cp:revision>4</cp:revision>
  <dcterms:created xsi:type="dcterms:W3CDTF">2026-07-31T06:06:54Z</dcterms:created>
  <dcterms:modified xsi:type="dcterms:W3CDTF">2026-07-31T07:16:01Z</dcterms:modified>
</cp:coreProperties>
</file>