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6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1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F2957D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5FCFB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640080"/>
            <a:ext cx="1371600" cy="1371600"/>
          </a:xfrm>
          <a:prstGeom prst="ellipse">
            <a:avLst/>
          </a:prstGeom>
          <a:solidFill>
            <a:srgbClr val="F2957D"/>
          </a:solidFill>
          <a:ln/>
        </p:spPr>
      </p:sp>
      <p:pic>
        <p:nvPicPr>
          <p:cNvPr id="5" name="Image 0" descr="/home/claude/studygenie/icons/brain_pe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932688"/>
            <a:ext cx="786384" cy="7863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28600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StudyGenie AI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457200" y="32004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Study Planner using Generative AI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480560" y="3977640"/>
            <a:ext cx="3200400" cy="0"/>
          </a:xfrm>
          <a:prstGeom prst="line">
            <a:avLst/>
          </a:prstGeom>
          <a:noFill/>
          <a:ln w="12700">
            <a:solidFill>
              <a:srgbClr val="F2957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80560" y="4251960"/>
            <a:ext cx="3200400" cy="502920"/>
          </a:xfrm>
          <a:prstGeom prst="roundRect">
            <a:avLst>
              <a:gd name="adj" fmla="val 50909"/>
            </a:avLst>
          </a:prstGeom>
          <a:solidFill>
            <a:srgbClr val="473A6E"/>
          </a:solidFill>
          <a:ln/>
        </p:spPr>
      </p:sp>
      <p:sp>
        <p:nvSpPr>
          <p:cNvPr id="10" name="Text 7"/>
          <p:cNvSpPr/>
          <p:nvPr/>
        </p:nvSpPr>
        <p:spPr>
          <a:xfrm>
            <a:off x="4480560" y="4251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C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Python with Generative AI (VAC)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6492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struggle to manage their study time efficiently before exams. Creating a proper study plan, understanding difficult topics, preparing revision notes, and practicing questions require significant time and effort.
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2D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StudyGenie AI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Generative AI-based application that automatically creates a personalized study plan and provides additional learning assistance through AI.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60920" y="411480"/>
            <a:ext cx="4251960" cy="6035040"/>
          </a:xfrm>
          <a:prstGeom prst="roundRect">
            <a:avLst>
              <a:gd name="adj" fmla="val 2581"/>
            </a:avLst>
          </a:prstGeom>
          <a:solidFill>
            <a:srgbClr val="2D2150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0" y="621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80960" y="1280160"/>
            <a:ext cx="548640" cy="548640"/>
          </a:xfrm>
          <a:prstGeom prst="ellipse">
            <a:avLst/>
          </a:prstGeom>
          <a:solidFill>
            <a:srgbClr val="473A6E"/>
          </a:solidFill>
          <a:ln/>
        </p:spPr>
      </p:sp>
      <p:pic>
        <p:nvPicPr>
          <p:cNvPr id="7" name="Image 0" descr="/home/claude/studygenie/icons/calendar_blu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2" y="139903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66760" y="12801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Study Planner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680960" y="2066544"/>
            <a:ext cx="548640" cy="548640"/>
          </a:xfrm>
          <a:prstGeom prst="ellipse">
            <a:avLst/>
          </a:prstGeom>
          <a:solidFill>
            <a:srgbClr val="473A6E"/>
          </a:solidFill>
          <a:ln/>
        </p:spPr>
      </p:sp>
      <p:pic>
        <p:nvPicPr>
          <p:cNvPr id="10" name="Image 1" descr="/home/claude/studygenie/icons/book_blu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218541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66760" y="2066544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Explanation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680960" y="2852928"/>
            <a:ext cx="548640" cy="548640"/>
          </a:xfrm>
          <a:prstGeom prst="ellipse">
            <a:avLst/>
          </a:prstGeom>
          <a:solidFill>
            <a:srgbClr val="473A6E"/>
          </a:solidFill>
          <a:ln/>
        </p:spPr>
      </p:sp>
      <p:pic>
        <p:nvPicPr>
          <p:cNvPr id="13" name="Image 2" descr="/home/claude/studygenie/icons/penfancy_blu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2" y="2971800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66760" y="28529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Notes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680960" y="3639312"/>
            <a:ext cx="548640" cy="548640"/>
          </a:xfrm>
          <a:prstGeom prst="ellipse">
            <a:avLst/>
          </a:prstGeom>
          <a:solidFill>
            <a:srgbClr val="473A6E"/>
          </a:solidFill>
          <a:ln/>
        </p:spPr>
      </p:sp>
      <p:pic>
        <p:nvPicPr>
          <p:cNvPr id="16" name="Image 3" descr="/home/claude/studygenie/icons/question_blu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3758184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66760" y="36393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Doubt Solver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7680960" y="4425696"/>
            <a:ext cx="548640" cy="548640"/>
          </a:xfrm>
          <a:prstGeom prst="ellipse">
            <a:avLst/>
          </a:prstGeom>
          <a:solidFill>
            <a:srgbClr val="473A6E"/>
          </a:solidFill>
          <a:ln/>
        </p:spPr>
      </p:sp>
      <p:pic>
        <p:nvPicPr>
          <p:cNvPr id="19" name="Image 4" descr="/home/claude/studygenie/icons/clipboardcheck_blu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32" y="4544568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366760" y="4425696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Quiz Generator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680960" y="5212080"/>
            <a:ext cx="548640" cy="548640"/>
          </a:xfrm>
          <a:prstGeom prst="ellipse">
            <a:avLst/>
          </a:prstGeom>
          <a:solidFill>
            <a:srgbClr val="473A6E"/>
          </a:solidFill>
          <a:ln/>
        </p:spPr>
      </p:sp>
      <p:pic>
        <p:nvPicPr>
          <p:cNvPr id="22" name="Image 5" descr="/home/claude/studygenie/icons/key_blus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9832" y="5330952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366760" y="52120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Generator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548640" y="4114800"/>
            <a:ext cx="6492240" cy="1417320"/>
          </a:xfrm>
          <a:prstGeom prst="roundRect">
            <a:avLst>
              <a:gd name="adj" fmla="val 6452"/>
            </a:avLst>
          </a:prstGeom>
          <a:solidFill>
            <a:srgbClr val="F7E6E0"/>
          </a:solidFill>
          <a:ln/>
        </p:spPr>
      </p:sp>
      <p:sp>
        <p:nvSpPr>
          <p:cNvPr id="25" name="Shape 17"/>
          <p:cNvSpPr/>
          <p:nvPr/>
        </p:nvSpPr>
        <p:spPr>
          <a:xfrm>
            <a:off x="777240" y="4315968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6" descr="/home/claude/studygenie/icons/robot_viol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498848"/>
            <a:ext cx="640080" cy="6400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874520" y="42976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D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 AI study companion — plans, explains, quizzes, and answers doubts, all in one place.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686800" y="457200"/>
            <a:ext cx="2926080" cy="5943600"/>
          </a:xfrm>
          <a:prstGeom prst="roundRect">
            <a:avLst>
              <a:gd name="adj" fmla="val 3750"/>
            </a:avLst>
          </a:prstGeom>
          <a:solidFill>
            <a:srgbClr val="2D2150"/>
          </a:solidFill>
          <a:ln/>
        </p:spPr>
      </p:sp>
      <p:sp>
        <p:nvSpPr>
          <p:cNvPr id="4" name="Shape 2"/>
          <p:cNvSpPr/>
          <p:nvPr/>
        </p:nvSpPr>
        <p:spPr>
          <a:xfrm>
            <a:off x="9464040" y="1005840"/>
            <a:ext cx="1371600" cy="1371600"/>
          </a:xfrm>
          <a:prstGeom prst="ellipse">
            <a:avLst/>
          </a:prstGeom>
          <a:solidFill>
            <a:srgbClr val="F2957D"/>
          </a:solidFill>
          <a:ln/>
        </p:spPr>
      </p:sp>
      <p:pic>
        <p:nvPicPr>
          <p:cNvPr id="5" name="Image 0" descr="/home/claude/studygenie/icons/puzzle_pe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12801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69680" y="2606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Gap.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006840" y="33832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AI-powered solution can simplify the entire exam preparation process.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4360" y="1280160"/>
            <a:ext cx="566928" cy="566928"/>
          </a:xfrm>
          <a:prstGeom prst="ellipse">
            <a:avLst/>
          </a:prstGeom>
          <a:solidFill>
            <a:srgbClr val="F7E6E0"/>
          </a:solidFill>
          <a:ln/>
        </p:spPr>
      </p:sp>
      <p:pic>
        <p:nvPicPr>
          <p:cNvPr id="9" name="Image 1" descr="/home/claude/studygenie/icons/calendar_blu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9903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1252728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scheduling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25880" y="155448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planning an effective study schedule.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94360" y="2267712"/>
            <a:ext cx="566928" cy="566928"/>
          </a:xfrm>
          <a:prstGeom prst="ellipse">
            <a:avLst/>
          </a:prstGeom>
          <a:solidFill>
            <a:srgbClr val="F7E6E0"/>
          </a:solidFill>
          <a:ln/>
        </p:spPr>
      </p:sp>
      <p:pic>
        <p:nvPicPr>
          <p:cNvPr id="13" name="Image 2" descr="/home/claude/studygenie/icons/lightbulb_blu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38658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224028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guidance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25880" y="2542032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personalized learning guidance for each student.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94360" y="3255264"/>
            <a:ext cx="566928" cy="566928"/>
          </a:xfrm>
          <a:prstGeom prst="ellipse">
            <a:avLst/>
          </a:prstGeom>
          <a:solidFill>
            <a:srgbClr val="F7E6E0"/>
          </a:solidFill>
          <a:ln/>
        </p:spPr>
      </p:sp>
      <p:pic>
        <p:nvPicPr>
          <p:cNvPr id="17" name="Image 3" descr="/home/claude/studygenie/icons/clock_blu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374136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3227832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prep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25880" y="3529584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preparation takes significant time and effort.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94360" y="4242816"/>
            <a:ext cx="566928" cy="566928"/>
          </a:xfrm>
          <a:prstGeom prst="ellipse">
            <a:avLst/>
          </a:prstGeom>
          <a:solidFill>
            <a:srgbClr val="F7E6E0"/>
          </a:solidFill>
          <a:ln/>
        </p:spPr>
      </p:sp>
      <p:pic>
        <p:nvPicPr>
          <p:cNvPr id="21" name="Image 4" descr="/home/claude/studygenie/icons/question_blu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361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4215384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 clarification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325880" y="45171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 to instant doubt clarification.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594360" y="5230368"/>
            <a:ext cx="566928" cy="566928"/>
          </a:xfrm>
          <a:prstGeom prst="ellipse">
            <a:avLst/>
          </a:prstGeom>
          <a:solidFill>
            <a:srgbClr val="F7E6E0"/>
          </a:solidFill>
          <a:ln/>
        </p:spPr>
      </p:sp>
      <p:pic>
        <p:nvPicPr>
          <p:cNvPr id="25" name="Image 5" descr="/home/claude/studygenie/icons/clipboardcheck_blus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5349240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25880" y="5202936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revision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1325880" y="5504688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practice quizzes and concise revision materials.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StudyGenie AI is built to achieve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9E4F2"/>
            </a:solidFill>
            <a:prstDash val="solid"/>
          </a:ln>
          <a:effectLst>
            <a:outerShdw sx="100000" sy="100000" kx="0" ky="0" algn="bl" rotWithShape="0" blurRad="88900" dist="38100" dir="5400000">
              <a:srgbClr val="3D2E5C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621792" cy="621792"/>
          </a:xfrm>
          <a:prstGeom prst="ellipse">
            <a:avLst/>
          </a:prstGeom>
          <a:solidFill>
            <a:srgbClr val="F2957D"/>
          </a:solidFill>
          <a:ln/>
        </p:spPr>
      </p:sp>
      <p:pic>
        <p:nvPicPr>
          <p:cNvPr id="6" name="Image 0" descr="/home/claude/studygenie/icons/layer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9385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51460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application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880360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AI-based study planning application.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34840" y="16002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9E4F2"/>
            </a:solidFill>
            <a:prstDash val="solid"/>
          </a:ln>
          <a:effectLst>
            <a:outerShdw sx="100000" sy="100000" kx="0" ky="0" algn="bl" rotWithShape="0" blurRad="88900" dist="38100" dir="5400000">
              <a:srgbClr val="3D2E5C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1801368"/>
            <a:ext cx="621792" cy="621792"/>
          </a:xfrm>
          <a:prstGeom prst="ellipse">
            <a:avLst/>
          </a:prstGeom>
          <a:solidFill>
            <a:srgbClr val="5FCFB0"/>
          </a:solidFill>
          <a:ln/>
        </p:spPr>
      </p:sp>
      <p:pic>
        <p:nvPicPr>
          <p:cNvPr id="11" name="Image 1" descr="/home/claude/studygenie/icons/calend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93852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6008" y="251460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schedules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36008" y="2880360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personalized study schedules for each student.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321040" y="16002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9E4F2"/>
            </a:solidFill>
            <a:prstDash val="solid"/>
          </a:ln>
          <a:effectLst>
            <a:outerShdw sx="100000" sy="100000" kx="0" ky="0" algn="bl" rotWithShape="0" blurRad="88900" dist="38100" dir="5400000">
              <a:srgbClr val="3D2E5C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22208" y="1801368"/>
            <a:ext cx="621792" cy="621792"/>
          </a:xfrm>
          <a:prstGeom prst="ellipse">
            <a:avLst/>
          </a:prstGeom>
          <a:solidFill>
            <a:srgbClr val="F2957D"/>
          </a:solidFill>
          <a:ln/>
        </p:spPr>
      </p:sp>
      <p:pic>
        <p:nvPicPr>
          <p:cNvPr id="16" name="Image 2" descr="/home/claude/studygenie/icons/lightbulb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193852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22208" y="251460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concepts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522208" y="2880360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difficult concepts in simple, clear language.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9E4F2"/>
            </a:solidFill>
            <a:prstDash val="solid"/>
          </a:ln>
          <a:effectLst>
            <a:outerShdw sx="100000" sy="100000" kx="0" ky="0" algn="bl" rotWithShape="0" blurRad="88900" dist="38100" dir="5400000">
              <a:srgbClr val="3D2E5C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995928"/>
            <a:ext cx="621792" cy="621792"/>
          </a:xfrm>
          <a:prstGeom prst="ellipse">
            <a:avLst/>
          </a:prstGeom>
          <a:solidFill>
            <a:srgbClr val="5FCFB0"/>
          </a:solidFill>
          <a:ln/>
        </p:spPr>
      </p:sp>
      <p:pic>
        <p:nvPicPr>
          <p:cNvPr id="21" name="Image 3" descr="/home/claude/studygenie/icons/boo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13308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70916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notes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9808" y="5074920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concise revision notes for quick recall.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34840" y="379476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9E4F2"/>
            </a:solidFill>
            <a:prstDash val="solid"/>
          </a:ln>
          <a:effectLst>
            <a:outerShdw sx="100000" sy="100000" kx="0" ky="0" algn="bl" rotWithShape="0" blurRad="88900" dist="38100" dir="5400000">
              <a:srgbClr val="3D2E5C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36008" y="3995928"/>
            <a:ext cx="621792" cy="621792"/>
          </a:xfrm>
          <a:prstGeom prst="ellipse">
            <a:avLst/>
          </a:prstGeom>
          <a:solidFill>
            <a:srgbClr val="F2957D"/>
          </a:solidFill>
          <a:ln/>
        </p:spPr>
      </p:sp>
      <p:pic>
        <p:nvPicPr>
          <p:cNvPr id="26" name="Image 4" descr="/home/claude/studygenie/icons/clipboard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133088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36008" y="470916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36008" y="5074920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AI-based quizzes for self-assessment.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321040" y="379476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9E4F2"/>
            </a:solidFill>
            <a:prstDash val="solid"/>
          </a:ln>
          <a:effectLst>
            <a:outerShdw sx="100000" sy="100000" kx="0" ky="0" algn="bl" rotWithShape="0" blurRad="88900" dist="38100" dir="5400000">
              <a:srgbClr val="3D2E5C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22208" y="3995928"/>
            <a:ext cx="621792" cy="621792"/>
          </a:xfrm>
          <a:prstGeom prst="ellipse">
            <a:avLst/>
          </a:prstGeom>
          <a:solidFill>
            <a:srgbClr val="5FCFB0"/>
          </a:solidFill>
          <a:ln/>
        </p:spPr>
      </p:sp>
      <p:pic>
        <p:nvPicPr>
          <p:cNvPr id="31" name="Image 5" descr="/home/claude/studygenie/icons/questio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368" y="4133088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22208" y="470916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doubt-solving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522208" y="5074920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students' doubts instantly, any time.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5989320"/>
            <a:ext cx="11338560" cy="0"/>
          </a:xfrm>
          <a:prstGeom prst="roundRect">
            <a:avLst/>
          </a:prstGeom>
          <a:solidFill>
            <a:srgbClr val="FAF8FC"/>
          </a:solidFill>
          <a:ln/>
        </p:spPr>
      </p:sp>
      <p:sp>
        <p:nvSpPr>
          <p:cNvPr id="35" name="Shape 27"/>
          <p:cNvSpPr/>
          <p:nvPr/>
        </p:nvSpPr>
        <p:spPr>
          <a:xfrm>
            <a:off x="548640" y="5870448"/>
            <a:ext cx="11338560" cy="713232"/>
          </a:xfrm>
          <a:prstGeom prst="roundRect">
            <a:avLst>
              <a:gd name="adj" fmla="val 12821"/>
            </a:avLst>
          </a:prstGeom>
          <a:solidFill>
            <a:srgbClr val="2D2150"/>
          </a:solidFill>
          <a:ln/>
        </p:spPr>
      </p:sp>
      <p:sp>
        <p:nvSpPr>
          <p:cNvPr id="36" name="Shape 28"/>
          <p:cNvSpPr/>
          <p:nvPr/>
        </p:nvSpPr>
        <p:spPr>
          <a:xfrm>
            <a:off x="713232" y="5952744"/>
            <a:ext cx="548640" cy="548640"/>
          </a:xfrm>
          <a:prstGeom prst="ellipse">
            <a:avLst/>
          </a:prstGeom>
          <a:solidFill>
            <a:srgbClr val="F2957D"/>
          </a:solidFill>
          <a:ln/>
        </p:spPr>
      </p:sp>
      <p:pic>
        <p:nvPicPr>
          <p:cNvPr id="37" name="Image 6" descr="/home/claude/studygenie/icons/chartlin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" y="6071616"/>
            <a:ext cx="310896" cy="31089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417320" y="5870448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efficiency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4251960" y="5870448"/>
            <a:ext cx="7452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overall exam preparation efficiency.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student input to a complete, AI-generated study kit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2D2150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773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studygenie/icons/penfanc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145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5270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508760" y="18745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4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subject, topics, days left, and study hours.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276856" y="2377440"/>
            <a:ext cx="292608" cy="292608"/>
          </a:xfrm>
          <a:prstGeom prst="ellipse">
            <a:avLst/>
          </a:prstGeom>
          <a:solidFill>
            <a:srgbClr val="F2957D"/>
          </a:solidFill>
          <a:ln/>
        </p:spPr>
      </p:sp>
      <p:sp>
        <p:nvSpPr>
          <p:cNvPr id="10" name="Text 7"/>
          <p:cNvSpPr/>
          <p:nvPr/>
        </p:nvSpPr>
        <p:spPr>
          <a:xfrm>
            <a:off x="2240280" y="23591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74320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5FCFB0"/>
          </a:solidFill>
          <a:ln/>
        </p:spPr>
      </p:sp>
      <p:sp>
        <p:nvSpPr>
          <p:cNvPr id="12" name="Shape 9"/>
          <p:cNvSpPr/>
          <p:nvPr/>
        </p:nvSpPr>
        <p:spPr>
          <a:xfrm>
            <a:off x="749808" y="29032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studygenie/icons/robo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0403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28529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Model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508760" y="32004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4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by the AI engine (gpt-4.1-nano).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276856" y="3703320"/>
            <a:ext cx="292608" cy="292608"/>
          </a:xfrm>
          <a:prstGeom prst="ellipse">
            <a:avLst/>
          </a:prstGeom>
          <a:solidFill>
            <a:srgbClr val="F2957D"/>
          </a:solidFill>
          <a:ln/>
        </p:spPr>
      </p:sp>
      <p:sp>
        <p:nvSpPr>
          <p:cNvPr id="17" name="Text 13"/>
          <p:cNvSpPr/>
          <p:nvPr/>
        </p:nvSpPr>
        <p:spPr>
          <a:xfrm>
            <a:off x="2240280" y="36850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406908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2D2150"/>
          </a:solidFill>
          <a:ln/>
        </p:spPr>
      </p:sp>
      <p:sp>
        <p:nvSpPr>
          <p:cNvPr id="19" name="Shape 15"/>
          <p:cNvSpPr/>
          <p:nvPr/>
        </p:nvSpPr>
        <p:spPr>
          <a:xfrm>
            <a:off x="749808" y="42291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/home/claude/studygenie/icons/sliders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36626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08760" y="41788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through Gradio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508760" y="45262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4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shown to the student via the Gradio interface.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09160" y="1417320"/>
            <a:ext cx="690372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9E4F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983480" y="15727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Generates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4983480" y="2148840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FAF8FD"/>
          </a:solidFill>
          <a:ln w="12700">
            <a:solidFill>
              <a:srgbClr val="E9E4F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120640" y="2327148"/>
            <a:ext cx="512064" cy="512064"/>
          </a:xfrm>
          <a:prstGeom prst="ellipse">
            <a:avLst/>
          </a:prstGeom>
          <a:solidFill>
            <a:srgbClr val="F7E6E0"/>
          </a:solidFill>
          <a:ln/>
        </p:spPr>
      </p:sp>
      <p:pic>
        <p:nvPicPr>
          <p:cNvPr id="27" name="Image 3" descr="/home/claude/studygenie/icons/calendar_blu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2436876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715000" y="21488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8458200" y="2148840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FAF8FD"/>
          </a:solidFill>
          <a:ln w="12700">
            <a:solidFill>
              <a:srgbClr val="E9E4F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595360" y="2327148"/>
            <a:ext cx="512064" cy="512064"/>
          </a:xfrm>
          <a:prstGeom prst="ellipse">
            <a:avLst/>
          </a:prstGeom>
          <a:solidFill>
            <a:srgbClr val="F7E6E0"/>
          </a:solidFill>
          <a:ln/>
        </p:spPr>
      </p:sp>
      <p:pic>
        <p:nvPicPr>
          <p:cNvPr id="31" name="Image 4" descr="/home/claude/studygenie/icons/lightbulb_blu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088" y="2436876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189720" y="21488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Explanation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4983480" y="3200400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FAF8FD"/>
          </a:solidFill>
          <a:ln w="12700">
            <a:solidFill>
              <a:srgbClr val="E9E4F2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5120640" y="3378708"/>
            <a:ext cx="512064" cy="512064"/>
          </a:xfrm>
          <a:prstGeom prst="ellipse">
            <a:avLst/>
          </a:prstGeom>
          <a:solidFill>
            <a:srgbClr val="F7E6E0"/>
          </a:solidFill>
          <a:ln/>
        </p:spPr>
      </p:sp>
      <p:pic>
        <p:nvPicPr>
          <p:cNvPr id="35" name="Image 5" descr="/home/claude/studygenie/icons/book_blus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368" y="3488436"/>
            <a:ext cx="292608" cy="29260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715000" y="32004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Notes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8458200" y="3200400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FAF8FD"/>
          </a:solidFill>
          <a:ln w="12700">
            <a:solidFill>
              <a:srgbClr val="E9E4F2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8595360" y="3378708"/>
            <a:ext cx="512064" cy="512064"/>
          </a:xfrm>
          <a:prstGeom prst="ellipse">
            <a:avLst/>
          </a:prstGeom>
          <a:solidFill>
            <a:srgbClr val="F7E6E0"/>
          </a:solidFill>
          <a:ln/>
        </p:spPr>
      </p:sp>
      <p:pic>
        <p:nvPicPr>
          <p:cNvPr id="39" name="Image 6" descr="/home/claude/studygenie/icons/clipboardcheck_blus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5088" y="3488436"/>
            <a:ext cx="292608" cy="29260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189720" y="32004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Quiz</a:t>
            </a:r>
            <a:endParaRPr lang="en-US" sz="1250" dirty="0"/>
          </a:p>
        </p:txBody>
      </p:sp>
      <p:sp>
        <p:nvSpPr>
          <p:cNvPr id="41" name="Shape 32"/>
          <p:cNvSpPr/>
          <p:nvPr/>
        </p:nvSpPr>
        <p:spPr>
          <a:xfrm>
            <a:off x="4983480" y="4251960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FAF8FD"/>
          </a:solidFill>
          <a:ln w="12700">
            <a:solidFill>
              <a:srgbClr val="E9E4F2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5120640" y="4430268"/>
            <a:ext cx="512064" cy="512064"/>
          </a:xfrm>
          <a:prstGeom prst="ellipse">
            <a:avLst/>
          </a:prstGeom>
          <a:solidFill>
            <a:srgbClr val="F7E6E0"/>
          </a:solidFill>
          <a:ln/>
        </p:spPr>
      </p:sp>
      <p:pic>
        <p:nvPicPr>
          <p:cNvPr id="43" name="Image 7" descr="/home/claude/studygenie/icons/target_blus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0368" y="4539996"/>
            <a:ext cx="292608" cy="29260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715000" y="42519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Tips</a:t>
            </a:r>
            <a:endParaRPr lang="en-US" sz="1250" dirty="0"/>
          </a:p>
        </p:txBody>
      </p:sp>
      <p:sp>
        <p:nvSpPr>
          <p:cNvPr id="45" name="Shape 35"/>
          <p:cNvSpPr/>
          <p:nvPr/>
        </p:nvSpPr>
        <p:spPr>
          <a:xfrm>
            <a:off x="8458200" y="4251960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FAF8FD"/>
          </a:solidFill>
          <a:ln w="12700">
            <a:solidFill>
              <a:srgbClr val="E9E4F2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8595360" y="4430268"/>
            <a:ext cx="512064" cy="512064"/>
          </a:xfrm>
          <a:prstGeom prst="ellipse">
            <a:avLst/>
          </a:prstGeom>
          <a:solidFill>
            <a:srgbClr val="F7E6E0"/>
          </a:solidFill>
          <a:ln/>
        </p:spPr>
      </p:sp>
      <p:pic>
        <p:nvPicPr>
          <p:cNvPr id="47" name="Image 8" descr="/home/claude/studygenie/icons/question_blush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05088" y="4539996"/>
            <a:ext cx="292608" cy="292608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9189720" y="42519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 Solutions</a:t>
            </a:r>
            <a:endParaRPr lang="en-US" sz="1250" dirty="0"/>
          </a:p>
        </p:txBody>
      </p:sp>
      <p:sp>
        <p:nvSpPr>
          <p:cNvPr id="49" name="Shape 38"/>
          <p:cNvSpPr/>
          <p:nvPr/>
        </p:nvSpPr>
        <p:spPr>
          <a:xfrm>
            <a:off x="4983480" y="5303520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FAF8FD"/>
          </a:solidFill>
          <a:ln w="12700">
            <a:solidFill>
              <a:srgbClr val="E9E4F2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5120640" y="5481828"/>
            <a:ext cx="512064" cy="512064"/>
          </a:xfrm>
          <a:prstGeom prst="ellipse">
            <a:avLst/>
          </a:prstGeom>
          <a:solidFill>
            <a:srgbClr val="F7E6E0"/>
          </a:solidFill>
          <a:ln/>
        </p:spPr>
      </p:sp>
      <p:pic>
        <p:nvPicPr>
          <p:cNvPr id="51" name="Image 9" descr="/home/claude/studygenie/icons/key_blus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0368" y="5591556"/>
            <a:ext cx="292608" cy="292608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5715000" y="530352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&amp; Expected Output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5212080"/>
          </a:xfrm>
          <a:prstGeom prst="roundRect">
            <a:avLst>
              <a:gd name="adj" fmla="val 2105"/>
            </a:avLst>
          </a:prstGeom>
          <a:solidFill>
            <a:srgbClr val="2D215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Used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530352" cy="530352"/>
          </a:xfrm>
          <a:prstGeom prst="ellipse">
            <a:avLst/>
          </a:prstGeom>
          <a:solidFill>
            <a:srgbClr val="473A6E"/>
          </a:solidFill>
          <a:ln/>
        </p:spPr>
      </p:sp>
      <p:pic>
        <p:nvPicPr>
          <p:cNvPr id="6" name="Image 0" descr="/home/claude/studygenie/icons/python_blu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22199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210312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" y="2788920"/>
            <a:ext cx="530352" cy="530352"/>
          </a:xfrm>
          <a:prstGeom prst="ellipse">
            <a:avLst/>
          </a:prstGeom>
          <a:solidFill>
            <a:srgbClr val="473A6E"/>
          </a:solidFill>
          <a:ln/>
        </p:spPr>
      </p:sp>
      <p:pic>
        <p:nvPicPr>
          <p:cNvPr id="9" name="Image 1" descr="/home/claude/studygenie/icons/cloud_blu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90779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36192" y="278892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68680" y="3474720"/>
            <a:ext cx="530352" cy="530352"/>
          </a:xfrm>
          <a:prstGeom prst="ellipse">
            <a:avLst/>
          </a:prstGeom>
          <a:solidFill>
            <a:srgbClr val="473A6E"/>
          </a:solidFill>
          <a:ln/>
        </p:spPr>
      </p:sp>
      <p:pic>
        <p:nvPicPr>
          <p:cNvPr id="12" name="Image 2" descr="/home/claude/studygenie/icons/slidersh_blu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593592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6192" y="347472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68680" y="4160520"/>
            <a:ext cx="530352" cy="530352"/>
          </a:xfrm>
          <a:prstGeom prst="ellipse">
            <a:avLst/>
          </a:prstGeom>
          <a:solidFill>
            <a:srgbClr val="473A6E"/>
          </a:solidFill>
          <a:ln/>
        </p:spPr>
      </p:sp>
      <p:pic>
        <p:nvPicPr>
          <p:cNvPr id="15" name="Image 3" descr="/home/claude/studygenie/icons/openai_blu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279392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36192" y="416052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Python SDK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868680" y="4846320"/>
            <a:ext cx="530352" cy="530352"/>
          </a:xfrm>
          <a:prstGeom prst="ellipse">
            <a:avLst/>
          </a:prstGeom>
          <a:solidFill>
            <a:srgbClr val="473A6E"/>
          </a:solidFill>
          <a:ln/>
        </p:spPr>
      </p:sp>
      <p:pic>
        <p:nvPicPr>
          <p:cNvPr id="18" name="Image 4" descr="/home/claude/studygenie/icons/robot_blu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965192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36192" y="484632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Nano API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868680" y="5532120"/>
            <a:ext cx="530352" cy="530352"/>
          </a:xfrm>
          <a:prstGeom prst="ellipse">
            <a:avLst/>
          </a:prstGeom>
          <a:solidFill>
            <a:srgbClr val="473A6E"/>
          </a:solidFill>
          <a:ln/>
        </p:spPr>
      </p:sp>
      <p:pic>
        <p:nvPicPr>
          <p:cNvPr id="21" name="Image 5" descr="/home/claude/studygenie/icons/filepdf_blus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5650992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536192" y="553212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FPDF (PDF generation, optional)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6172200" y="1234440"/>
            <a:ext cx="5440680" cy="52120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9E4F2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649224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Output</a:t>
            </a:r>
            <a:endParaRPr lang="en-US" sz="1800" dirty="0"/>
          </a:p>
        </p:txBody>
      </p:sp>
      <p:sp>
        <p:nvSpPr>
          <p:cNvPr id="25" name="Shape 17"/>
          <p:cNvSpPr/>
          <p:nvPr/>
        </p:nvSpPr>
        <p:spPr>
          <a:xfrm>
            <a:off x="6492240" y="2103120"/>
            <a:ext cx="530352" cy="530352"/>
          </a:xfrm>
          <a:prstGeom prst="ellipse">
            <a:avLst/>
          </a:prstGeom>
          <a:solidFill>
            <a:srgbClr val="F7E6E0"/>
          </a:solidFill>
          <a:ln/>
        </p:spPr>
      </p:sp>
      <p:pic>
        <p:nvPicPr>
          <p:cNvPr id="26" name="Image 6" descr="/home/claude/studygenie/icons/calendar_blus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2221992"/>
            <a:ext cx="292608" cy="29260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159752" y="2103120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Study Plan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6492240" y="2724912"/>
            <a:ext cx="530352" cy="530352"/>
          </a:xfrm>
          <a:prstGeom prst="ellipse">
            <a:avLst/>
          </a:prstGeom>
          <a:solidFill>
            <a:srgbClr val="F7E6E0"/>
          </a:solidFill>
          <a:ln/>
        </p:spPr>
      </p:sp>
      <p:pic>
        <p:nvPicPr>
          <p:cNvPr id="29" name="Image 7" descr="/home/claude/studygenie/icons/lightbulb_blus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1112" y="2843784"/>
            <a:ext cx="292608" cy="29260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159752" y="2724912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Explanation</a:t>
            </a:r>
            <a:endParaRPr lang="en-US" sz="1300" dirty="0"/>
          </a:p>
        </p:txBody>
      </p:sp>
      <p:sp>
        <p:nvSpPr>
          <p:cNvPr id="31" name="Shape 21"/>
          <p:cNvSpPr/>
          <p:nvPr/>
        </p:nvSpPr>
        <p:spPr>
          <a:xfrm>
            <a:off x="6492240" y="3346704"/>
            <a:ext cx="530352" cy="530352"/>
          </a:xfrm>
          <a:prstGeom prst="ellipse">
            <a:avLst/>
          </a:prstGeom>
          <a:solidFill>
            <a:srgbClr val="F7E6E0"/>
          </a:solidFill>
          <a:ln/>
        </p:spPr>
      </p:sp>
      <p:pic>
        <p:nvPicPr>
          <p:cNvPr id="32" name="Image 8" descr="/home/claude/studygenie/icons/book_blush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1112" y="3465576"/>
            <a:ext cx="292608" cy="29260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159752" y="3346704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Notes</a:t>
            </a:r>
            <a:endParaRPr lang="en-US" sz="1300" dirty="0"/>
          </a:p>
        </p:txBody>
      </p:sp>
      <p:sp>
        <p:nvSpPr>
          <p:cNvPr id="34" name="Shape 23"/>
          <p:cNvSpPr/>
          <p:nvPr/>
        </p:nvSpPr>
        <p:spPr>
          <a:xfrm>
            <a:off x="6492240" y="3968496"/>
            <a:ext cx="530352" cy="530352"/>
          </a:xfrm>
          <a:prstGeom prst="ellipse">
            <a:avLst/>
          </a:prstGeom>
          <a:solidFill>
            <a:srgbClr val="F7E6E0"/>
          </a:solidFill>
          <a:ln/>
        </p:spPr>
      </p:sp>
      <p:pic>
        <p:nvPicPr>
          <p:cNvPr id="35" name="Image 9" descr="/home/claude/studygenie/icons/clipboardcheck_blus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1112" y="4087368"/>
            <a:ext cx="292608" cy="29260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159752" y="3968496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Practice Quiz</a:t>
            </a:r>
            <a:endParaRPr lang="en-US" sz="1300" dirty="0"/>
          </a:p>
        </p:txBody>
      </p:sp>
      <p:sp>
        <p:nvSpPr>
          <p:cNvPr id="37" name="Shape 25"/>
          <p:cNvSpPr/>
          <p:nvPr/>
        </p:nvSpPr>
        <p:spPr>
          <a:xfrm>
            <a:off x="6492240" y="4590288"/>
            <a:ext cx="530352" cy="530352"/>
          </a:xfrm>
          <a:prstGeom prst="ellipse">
            <a:avLst/>
          </a:prstGeom>
          <a:solidFill>
            <a:srgbClr val="F7E6E0"/>
          </a:solidFill>
          <a:ln/>
        </p:spPr>
      </p:sp>
      <p:pic>
        <p:nvPicPr>
          <p:cNvPr id="38" name="Image 10" descr="/home/claude/studygenie/icons/key_blush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1112" y="4709160"/>
            <a:ext cx="292608" cy="29260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7159752" y="4590288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300" dirty="0"/>
          </a:p>
        </p:txBody>
      </p:sp>
      <p:sp>
        <p:nvSpPr>
          <p:cNvPr id="40" name="Shape 27"/>
          <p:cNvSpPr/>
          <p:nvPr/>
        </p:nvSpPr>
        <p:spPr>
          <a:xfrm>
            <a:off x="6492240" y="5212080"/>
            <a:ext cx="530352" cy="530352"/>
          </a:xfrm>
          <a:prstGeom prst="ellipse">
            <a:avLst/>
          </a:prstGeom>
          <a:solidFill>
            <a:srgbClr val="F7E6E0"/>
          </a:solidFill>
          <a:ln/>
        </p:spPr>
      </p:sp>
      <p:pic>
        <p:nvPicPr>
          <p:cNvPr id="41" name="Image 11" descr="/home/claude/studygenie/icons/question_blush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1112" y="5330952"/>
            <a:ext cx="292608" cy="292608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7159752" y="5212080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Doubt Solver Response</a:t>
            </a:r>
            <a:endParaRPr lang="en-US" sz="1300" dirty="0"/>
          </a:p>
        </p:txBody>
      </p:sp>
      <p:sp>
        <p:nvSpPr>
          <p:cNvPr id="43" name="Shape 29"/>
          <p:cNvSpPr/>
          <p:nvPr/>
        </p:nvSpPr>
        <p:spPr>
          <a:xfrm>
            <a:off x="6492240" y="5833872"/>
            <a:ext cx="530352" cy="530352"/>
          </a:xfrm>
          <a:prstGeom prst="ellipse">
            <a:avLst/>
          </a:prstGeom>
          <a:solidFill>
            <a:srgbClr val="F7E6E0"/>
          </a:solidFill>
          <a:ln/>
        </p:spPr>
      </p:sp>
      <p:pic>
        <p:nvPicPr>
          <p:cNvPr id="44" name="Image 12" descr="/home/claude/studygenie/icons/filepdf_blush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1112" y="5952744"/>
            <a:ext cx="292608" cy="292608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7159752" y="5833872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PDF Report (optional)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21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F2957D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5FCFB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685800" cy="685800"/>
          </a:xfrm>
          <a:prstGeom prst="ellipse">
            <a:avLst/>
          </a:prstGeom>
          <a:solidFill>
            <a:srgbClr val="F2957D"/>
          </a:solidFill>
          <a:ln/>
        </p:spPr>
      </p:sp>
      <p:pic>
        <p:nvPicPr>
          <p:cNvPr id="6" name="Image 0" descr="/home/claude/studygenie/icons/graduate_pe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883664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00200"/>
            <a:ext cx="9692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StudyGenie AI simplifies exam preparation by combining study planning, concept explanation, revision support, quiz generation, and doubt solving into a single AI-powered platform.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94360" y="3429000"/>
            <a:ext cx="685800" cy="685800"/>
          </a:xfrm>
          <a:prstGeom prst="ellipse">
            <a:avLst/>
          </a:prstGeom>
          <a:solidFill>
            <a:srgbClr val="F2957D"/>
          </a:solidFill>
          <a:ln/>
        </p:spPr>
      </p:sp>
      <p:pic>
        <p:nvPicPr>
          <p:cNvPr id="9" name="Image 1" descr="/home/claude/studygenie/icons/brain_pea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3575304"/>
            <a:ext cx="393192" cy="3931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3291840"/>
            <a:ext cx="9692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the practical use of Python and Generative AI to enhance personalized learning and improve students' productivity.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594360" y="5394960"/>
            <a:ext cx="10972800" cy="777240"/>
          </a:xfrm>
          <a:prstGeom prst="roundRect">
            <a:avLst>
              <a:gd name="adj" fmla="val 11765"/>
            </a:avLst>
          </a:prstGeom>
          <a:solidFill>
            <a:srgbClr val="473A6E"/>
          </a:solidFill>
          <a:ln/>
        </p:spPr>
      </p:sp>
      <p:sp>
        <p:nvSpPr>
          <p:cNvPr id="12" name="Text 8"/>
          <p:cNvSpPr/>
          <p:nvPr/>
        </p:nvSpPr>
        <p:spPr>
          <a:xfrm>
            <a:off x="594360" y="53949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6C8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 companion — from planning to practice to doubt-clearing.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21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F2957D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5FCFB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188720"/>
            <a:ext cx="1371600" cy="1371600"/>
          </a:xfrm>
          <a:prstGeom prst="ellipse">
            <a:avLst/>
          </a:prstGeom>
          <a:solidFill>
            <a:srgbClr val="F2957D"/>
          </a:solidFill>
          <a:ln/>
        </p:spPr>
      </p:sp>
      <p:pic>
        <p:nvPicPr>
          <p:cNvPr id="5" name="Image 0" descr="/home/claude/studygenie/icons/handshake_pe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1481328"/>
            <a:ext cx="786384" cy="7863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880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3794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feedback are welcome.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80560" y="4480560"/>
            <a:ext cx="3200400" cy="0"/>
          </a:xfrm>
          <a:prstGeom prst="line">
            <a:avLst/>
          </a:prstGeom>
          <a:noFill/>
          <a:ln w="12700">
            <a:solidFill>
              <a:srgbClr val="F2957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709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StudyGenie AI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Generative AI (VAC)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2026-07-31T06:06:54Z</dcterms:created>
  <dcterms:modified xsi:type="dcterms:W3CDTF">2026-07-31T06:06:54Z</dcterms:modified>
</cp:coreProperties>
</file>